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1" r:id="rId6"/>
    <p:sldId id="262" r:id="rId7"/>
    <p:sldId id="265" r:id="rId8"/>
    <p:sldId id="266" r:id="rId9"/>
    <p:sldId id="267" r:id="rId10"/>
    <p:sldId id="264" r:id="rId11"/>
    <p:sldId id="268" r:id="rId12"/>
  </p:sldIdLst>
  <p:sldSz cx="14630400" cy="8229600"/>
  <p:notesSz cx="8229600" cy="14630400"/>
  <p:embeddedFontLst>
    <p:embeddedFont>
      <p:font typeface="Inter" panose="020B0604020202020204" charset="0"/>
      <p:regular r:id="rId14"/>
    </p:embeddedFont>
    <p:embeddedFont>
      <p:font typeface="Noto Sans SC" panose="020B0604020202020204" charset="0"/>
      <p:regular r:id="rId15"/>
    </p:embeddedFont>
    <p:embeddedFont>
      <p:font typeface="Roboto" panose="02000000000000000000" pitchFamily="2" charset="0"/>
      <p:regular r:id="rId16"/>
      <p:bold r:id="rId17"/>
      <p:italic r:id="rId18"/>
      <p:boldItalic r:id="rId19"/>
    </p:embeddedFont>
    <p:embeddedFont>
      <p:font typeface="Roboto Slab" pitchFamily="2" charset="0"/>
      <p:regular r:id="rId20"/>
      <p:bold r:id="rId2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62B719CC-3B6E-4390-B40F-43340BE99C6C}">
          <p14:sldIdLst>
            <p14:sldId id="256"/>
            <p14:sldId id="257"/>
            <p14:sldId id="259"/>
            <p14:sldId id="260"/>
            <p14:sldId id="261"/>
            <p14:sldId id="262"/>
            <p14:sldId id="265"/>
            <p14:sldId id="266"/>
            <p14:sldId id="267"/>
            <p14:sldId id="264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5790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4FBD8-7A14-A6D2-E7FB-A27A3672A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F308DC-68DC-D66A-DC37-5CAEEEA3A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524984-D346-87E0-8EA9-FE4BAEA281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C81AF-06BA-3261-B1AC-4E49CBCFEF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3913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2AA88-E5C4-C5DC-FD98-A43DCBB44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85893D-8F95-D2ED-8BF1-2C874B596E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024E55-10A5-D46A-3D97-B7F6F6A566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44EF1-DA88-D7E8-8D4B-2B997495DF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0468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22856-7E8D-B137-F5F6-130EAB52C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53A668-5E79-AA24-5135-D57CB39970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CA8A34-A321-6679-D6AF-45E0F7C43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505D7-1641-3BCE-50D3-0B817B30E8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7813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94BA8-9465-0E5E-3A1A-4C44A5404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0E4E6A-A7E0-3523-BFB3-D0DB7D71EC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B82735-E9F0-6E15-858A-3AE58E40CD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960AC-58E7-EF80-4B26-D69D221145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075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mirror.yandex.ru/" TargetMode="Externa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qwinge1/Praktika2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190463" y="1975498"/>
            <a:ext cx="8861320" cy="3033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latinLnBrk="1"/>
            <a:r>
              <a:rPr lang="ru-RU" sz="4800" b="1" dirty="0">
                <a:solidFill>
                  <a:srgbClr val="0070C0"/>
                </a:solidFill>
              </a:rPr>
              <a:t>ПМ.04. Сопровождение и обслуживание программного обеспечения компьютерных систем</a:t>
            </a:r>
            <a:endParaRPr lang="ru-RU" sz="4800" dirty="0">
              <a:solidFill>
                <a:srgbClr val="0070C0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3495362" y="394419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ru-RU" altLang="ru-RU" dirty="0">
                <a:solidFill>
                  <a:sysClr val="windowText" lastClr="000000"/>
                </a:solidFill>
              </a:rPr>
              <a:t>Кировское областное государственное профессиональное образовательное бюджетное учреждение</a:t>
            </a:r>
          </a:p>
          <a:p>
            <a:pPr algn="ctr"/>
            <a:r>
              <a:rPr lang="ru-RU" altLang="ru-RU" dirty="0">
                <a:solidFill>
                  <a:sysClr val="windowText" lastClr="000000"/>
                </a:solidFill>
              </a:rPr>
              <a:t>«Слободской колледж педагогики и социальных отношений»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9598745" y="4620902"/>
            <a:ext cx="4939188" cy="1952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 err="1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Выполнил</a:t>
            </a:r>
            <a:r>
              <a:rPr lang="en-US" sz="1600" b="1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r>
              <a:rPr lang="en-US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ru-RU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Исупов Дмитрий Андреевич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Группа</a:t>
            </a:r>
            <a:r>
              <a:rPr lang="en-US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23П-</a:t>
            </a:r>
            <a:r>
              <a:rPr lang="ru-RU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</a:p>
          <a:p>
            <a:pPr>
              <a:lnSpc>
                <a:spcPct val="150000"/>
              </a:lnSpc>
            </a:pPr>
            <a:r>
              <a:rPr lang="ru-RU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С</a:t>
            </a:r>
            <a:r>
              <a:rPr lang="en-US" sz="1600" dirty="0" err="1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пециальность</a:t>
            </a:r>
            <a:r>
              <a:rPr lang="en-US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09.02.07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«</a:t>
            </a:r>
            <a:r>
              <a:rPr lang="en-US" sz="1600" dirty="0" err="1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Информационные</a:t>
            </a:r>
            <a:r>
              <a:rPr lang="en-US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600" dirty="0" err="1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системы</a:t>
            </a:r>
            <a:r>
              <a:rPr lang="en-US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и </a:t>
            </a:r>
            <a:r>
              <a:rPr lang="en-US" sz="1600" dirty="0" err="1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программирование</a:t>
            </a:r>
            <a:r>
              <a:rPr lang="en-US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»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Форма</a:t>
            </a:r>
            <a:r>
              <a:rPr lang="en-US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600" dirty="0" err="1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обучения</a:t>
            </a:r>
            <a:r>
              <a:rPr lang="en-US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 </a:t>
            </a:r>
            <a:r>
              <a:rPr lang="en-US" sz="1600" dirty="0" err="1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очная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 err="1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Руководитель</a:t>
            </a:r>
            <a:r>
              <a:rPr lang="en-US" sz="1600" b="1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r>
              <a:rPr lang="en-US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ru-RU" sz="1600" dirty="0" err="1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Пентин</a:t>
            </a:r>
            <a:r>
              <a:rPr lang="ru-RU" sz="1600" dirty="0"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Николай Сергеевич</a:t>
            </a:r>
            <a:endParaRPr lang="en-US" sz="1600" dirty="0"/>
          </a:p>
        </p:txBody>
      </p:sp>
      <p:sp useBgFill="1">
        <p:nvSpPr>
          <p:cNvPr id="6" name="Прямоугольник 5">
            <a:extLst>
              <a:ext uri="{FF2B5EF4-FFF2-40B4-BE49-F238E27FC236}">
                <a16:creationId xmlns:a16="http://schemas.microsoft.com/office/drawing/2014/main" id="{9924AB5E-71AF-2E98-24BB-5D1EA0259800}"/>
              </a:ext>
            </a:extLst>
          </p:cNvPr>
          <p:cNvSpPr/>
          <p:nvPr/>
        </p:nvSpPr>
        <p:spPr>
          <a:xfrm>
            <a:off x="12739955" y="7700154"/>
            <a:ext cx="1797978" cy="4623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Picture 14" descr="touch-icon-ipad-retina">
            <a:extLst>
              <a:ext uri="{FF2B5EF4-FFF2-40B4-BE49-F238E27FC236}">
                <a16:creationId xmlns:a16="http://schemas.microsoft.com/office/drawing/2014/main" id="{32B953BD-91A1-EF69-41C2-3A26F36F3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462" y="127877"/>
            <a:ext cx="1258888" cy="125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346FB93-3D3F-84D3-7F02-415769C1B4F5}"/>
              </a:ext>
            </a:extLst>
          </p:cNvPr>
          <p:cNvSpPr txBox="1"/>
          <p:nvPr/>
        </p:nvSpPr>
        <p:spPr>
          <a:xfrm>
            <a:off x="4864517" y="7555447"/>
            <a:ext cx="2883078" cy="436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50"/>
              </a:lnSpc>
            </a:pPr>
            <a:r>
              <a:rPr lang="ru-RU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2025-2026г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50075" y="1457563"/>
            <a:ext cx="4289227" cy="417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4400" b="1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Цель и ключевые задачи</a:t>
            </a:r>
            <a:endParaRPr lang="en-US" sz="4400" b="1" dirty="0"/>
          </a:p>
        </p:txBody>
      </p:sp>
      <p:sp>
        <p:nvSpPr>
          <p:cNvPr id="3" name="Text 1"/>
          <p:cNvSpPr/>
          <p:nvPr/>
        </p:nvSpPr>
        <p:spPr>
          <a:xfrm>
            <a:off x="1550074" y="1973080"/>
            <a:ext cx="12204025" cy="1009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20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Цель</a:t>
            </a:r>
            <a:r>
              <a:rPr lang="en-US" sz="28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r>
              <a:rPr lang="en-US" sz="2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ru-RU" sz="2800" b="1" dirty="0"/>
              <a:t>Формирование профессиональных компетенций в области установки, настройки, сопровождения и модификации программного обеспечения компьютерных систем.</a:t>
            </a:r>
            <a:endParaRPr lang="en-US" sz="2800" b="1" dirty="0"/>
          </a:p>
        </p:txBody>
      </p:sp>
      <p:sp useBgFill="1">
        <p:nvSpPr>
          <p:cNvPr id="31" name="Прямоугольник 30">
            <a:extLst>
              <a:ext uri="{FF2B5EF4-FFF2-40B4-BE49-F238E27FC236}">
                <a16:creationId xmlns:a16="http://schemas.microsoft.com/office/drawing/2014/main" id="{831AE70B-FE3E-9104-F5AE-1D3F85647CFF}"/>
              </a:ext>
            </a:extLst>
          </p:cNvPr>
          <p:cNvSpPr/>
          <p:nvPr/>
        </p:nvSpPr>
        <p:spPr>
          <a:xfrm>
            <a:off x="12739955" y="7700154"/>
            <a:ext cx="1797978" cy="4623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0A1B53-4638-D3FA-FA21-744477E4E336}"/>
              </a:ext>
            </a:extLst>
          </p:cNvPr>
          <p:cNvSpPr txBox="1"/>
          <p:nvPr/>
        </p:nvSpPr>
        <p:spPr>
          <a:xfrm>
            <a:off x="1550075" y="4072934"/>
            <a:ext cx="11530132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ru-RU" sz="3200" b="1" dirty="0">
                <a:solidFill>
                  <a:srgbClr val="002060"/>
                </a:solidFill>
              </a:rPr>
              <a:t>Задачи</a:t>
            </a:r>
            <a:r>
              <a:rPr lang="en-US" sz="3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r>
              <a:rPr lang="en-US" sz="3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ru-RU" sz="320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800" b="1" dirty="0"/>
              <a:t>Освоить работу с системой виртуализации Oracle VM </a:t>
            </a:r>
            <a:r>
              <a:rPr lang="ru-RU" sz="2800" b="1" dirty="0" err="1"/>
              <a:t>VirtualBox</a:t>
            </a:r>
            <a:endParaRPr lang="ru-RU" sz="2800" b="1" dirty="0"/>
          </a:p>
          <a:p>
            <a:pPr marL="342900" indent="-342900">
              <a:buFont typeface="+mj-lt"/>
              <a:buAutoNum type="arabicPeriod"/>
            </a:pPr>
            <a:r>
              <a:rPr lang="ru-RU" sz="2800" b="1" dirty="0"/>
              <a:t>Развернуть и настроить гостевые операционные системы (Ubuntu, РЕД ОС, Ubuntu Server)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800" b="1" dirty="0"/>
              <a:t>Установить и настроить прикладное и серверное ПО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800" b="1" dirty="0"/>
              <a:t>Выполнить доработку и тестирование программного модуля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800" b="1" dirty="0"/>
              <a:t>Освоить работу с системами контроля версий (</a:t>
            </a:r>
            <a:r>
              <a:rPr lang="ru-RU" sz="2800" b="1" dirty="0" err="1"/>
              <a:t>Git</a:t>
            </a:r>
            <a:r>
              <a:rPr lang="ru-RU" sz="2800" b="1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800" b="1" dirty="0"/>
              <a:t>Оформить техническую документацию по ГОСТ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6141" y="799862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4400" b="1" dirty="0">
                <a:solidFill>
                  <a:srgbClr val="0070C0"/>
                </a:solidFill>
              </a:rPr>
              <a:t>Средства виртуализации</a:t>
            </a:r>
          </a:p>
        </p:txBody>
      </p:sp>
      <p:sp>
        <p:nvSpPr>
          <p:cNvPr id="4" name="Text 1"/>
          <p:cNvSpPr/>
          <p:nvPr/>
        </p:nvSpPr>
        <p:spPr>
          <a:xfrm>
            <a:off x="257176" y="1434482"/>
            <a:ext cx="8086724" cy="1453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800" b="1" dirty="0"/>
              <a:t>Программа виртуализации:</a:t>
            </a:r>
            <a:br>
              <a:rPr lang="ru-RU" sz="2800" dirty="0"/>
            </a:br>
            <a:r>
              <a:rPr lang="ru-RU" sz="2800" dirty="0"/>
              <a:t>Oracle </a:t>
            </a:r>
            <a:r>
              <a:rPr lang="ru-RU" sz="2800" dirty="0" err="1"/>
              <a:t>VirtualBox</a:t>
            </a:r>
            <a:r>
              <a:rPr lang="ru-RU" sz="2800" dirty="0"/>
              <a:t> 7.0</a:t>
            </a:r>
          </a:p>
          <a:p>
            <a:r>
              <a:rPr lang="ru-RU" sz="2800" b="1" dirty="0"/>
              <a:t>Установленные операционные системы:</a:t>
            </a:r>
            <a:endParaRPr lang="ru-RU" sz="2800" dirty="0"/>
          </a:p>
          <a:p>
            <a:r>
              <a:rPr lang="ru-RU" sz="2800" b="1" dirty="0"/>
              <a:t>Ubuntu Desktop 22.04 LTS</a:t>
            </a:r>
            <a:br>
              <a:rPr lang="ru-RU" sz="2800" dirty="0"/>
            </a:br>
            <a:r>
              <a:rPr lang="ru-RU" sz="2800" dirty="0"/>
              <a:t>Язык: русский</a:t>
            </a:r>
            <a:br>
              <a:rPr lang="ru-RU" sz="2800" dirty="0"/>
            </a:br>
            <a:r>
              <a:rPr lang="ru-RU" sz="2800" dirty="0"/>
              <a:t>Пользователь: создан при установке</a:t>
            </a:r>
            <a:br>
              <a:rPr lang="ru-RU" sz="2800" dirty="0"/>
            </a:br>
            <a:r>
              <a:rPr lang="ru-RU" sz="2800" dirty="0"/>
              <a:t>Дополнения гостевой ОС (</a:t>
            </a:r>
            <a:r>
              <a:rPr lang="ru-RU" sz="2800" dirty="0" err="1"/>
              <a:t>Guest</a:t>
            </a:r>
            <a:r>
              <a:rPr lang="ru-RU" sz="2800" dirty="0"/>
              <a:t> </a:t>
            </a:r>
            <a:r>
              <a:rPr lang="ru-RU" sz="2800" dirty="0" err="1"/>
              <a:t>Additions</a:t>
            </a:r>
            <a:r>
              <a:rPr lang="ru-RU" sz="2800" dirty="0"/>
              <a:t>) установлены</a:t>
            </a:r>
          </a:p>
          <a:p>
            <a:r>
              <a:rPr lang="ru-RU" sz="2800" b="1" dirty="0"/>
              <a:t>РЕД ОС 7.3</a:t>
            </a:r>
            <a:br>
              <a:rPr lang="ru-RU" sz="2800" dirty="0"/>
            </a:br>
            <a:r>
              <a:rPr lang="ru-RU" sz="2800" dirty="0"/>
              <a:t>Графическое окружение MATE</a:t>
            </a:r>
            <a:br>
              <a:rPr lang="ru-RU" sz="2800" dirty="0"/>
            </a:br>
            <a:r>
              <a:rPr lang="ru-RU" sz="2800" dirty="0"/>
              <a:t>Пользователь: создан при установке</a:t>
            </a:r>
          </a:p>
          <a:p>
            <a:r>
              <a:rPr lang="ru-RU" sz="2800" b="1" dirty="0"/>
              <a:t>Ubuntu Server 22.04</a:t>
            </a:r>
            <a:br>
              <a:rPr lang="ru-RU" sz="2800" dirty="0"/>
            </a:br>
            <a:r>
              <a:rPr lang="ru-RU" sz="2800" dirty="0"/>
              <a:t>Установка без графического интерфейса</a:t>
            </a:r>
            <a:br>
              <a:rPr lang="ru-RU" sz="2800" dirty="0"/>
            </a:br>
            <a:r>
              <a:rPr lang="ru-RU" sz="2800" dirty="0"/>
              <a:t>Доступ по SSH</a:t>
            </a:r>
            <a:br>
              <a:rPr lang="ru-RU" sz="2800" dirty="0"/>
            </a:br>
            <a:r>
              <a:rPr lang="ru-RU" sz="2800" dirty="0"/>
              <a:t>Использовалась для развёртывания </a:t>
            </a:r>
            <a:r>
              <a:rPr lang="ru-RU" sz="2800" dirty="0" err="1"/>
              <a:t>MongoDB</a:t>
            </a:r>
            <a:r>
              <a:rPr lang="ru-RU" sz="2800" dirty="0"/>
              <a:t>, </a:t>
            </a:r>
            <a:r>
              <a:rPr lang="ru-RU" sz="2800" dirty="0" err="1"/>
              <a:t>Docker</a:t>
            </a:r>
            <a:r>
              <a:rPr lang="ru-RU" sz="2800" dirty="0"/>
              <a:t> и </a:t>
            </a:r>
            <a:r>
              <a:rPr lang="ru-RU" sz="2800" dirty="0" err="1"/>
              <a:t>Piper</a:t>
            </a:r>
            <a:r>
              <a:rPr lang="ru-RU" sz="2800" dirty="0"/>
              <a:t> TTS</a:t>
            </a:r>
          </a:p>
        </p:txBody>
      </p:sp>
      <p:sp useBgFill="1">
        <p:nvSpPr>
          <p:cNvPr id="7" name="Прямоугольник 6">
            <a:extLst>
              <a:ext uri="{FF2B5EF4-FFF2-40B4-BE49-F238E27FC236}">
                <a16:creationId xmlns:a16="http://schemas.microsoft.com/office/drawing/2014/main" id="{EE25753A-9285-B733-31F9-555CE376D2BB}"/>
              </a:ext>
            </a:extLst>
          </p:cNvPr>
          <p:cNvSpPr/>
          <p:nvPr/>
        </p:nvSpPr>
        <p:spPr>
          <a:xfrm>
            <a:off x="12739955" y="7700154"/>
            <a:ext cx="1797978" cy="4623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1E7D51D-11CB-5733-048A-7E86CA0A2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7109"/>
            <a:ext cx="7273887" cy="80953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6143" y="644128"/>
            <a:ext cx="11576295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4400" b="1" dirty="0">
                <a:solidFill>
                  <a:srgbClr val="0070C0"/>
                </a:solidFill>
              </a:rPr>
              <a:t>Установленные операционные системы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86EA75F-C4EA-3D49-5FDA-628F97B62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674" y="1211103"/>
            <a:ext cx="5940425" cy="393255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9A6B5FB-EDCA-B90A-465D-6C92005AA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7827" y="4292556"/>
            <a:ext cx="4792573" cy="3937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6142" y="1669553"/>
            <a:ext cx="68087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/>
              <a:t>Ubuntu Desktop 22.04 LTS:</a:t>
            </a:r>
            <a:endParaRPr lang="en-US" sz="2800" dirty="0"/>
          </a:p>
          <a:p>
            <a:r>
              <a:rPr lang="ru-RU" sz="2800" dirty="0"/>
              <a:t>Параметры ВМ: 4 ГБ ОЗУ, 50 ГБ диск, сеть </a:t>
            </a:r>
            <a:r>
              <a:rPr lang="en-US" sz="2800" dirty="0"/>
              <a:t>NAT</a:t>
            </a:r>
          </a:p>
          <a:p>
            <a:r>
              <a:rPr lang="ru-RU" sz="2800" dirty="0"/>
              <a:t>Установка: «Стереть диск и установить </a:t>
            </a:r>
            <a:r>
              <a:rPr lang="en-US" sz="2800" dirty="0"/>
              <a:t>Ubuntu»</a:t>
            </a:r>
          </a:p>
          <a:p>
            <a:r>
              <a:rPr lang="en-US" sz="2800" dirty="0"/>
              <a:t>Guest Additions </a:t>
            </a:r>
            <a:r>
              <a:rPr lang="ru-RU" sz="2800" dirty="0"/>
              <a:t>установлены (общий буфер обмена, динамическое разрешение)</a:t>
            </a:r>
          </a:p>
          <a:p>
            <a:r>
              <a:rPr lang="ru-RU" sz="2800" b="1" dirty="0"/>
              <a:t>РЕД ОС 7.3:</a:t>
            </a:r>
            <a:endParaRPr lang="ru-RU" sz="2800" dirty="0"/>
          </a:p>
          <a:p>
            <a:r>
              <a:rPr lang="ru-RU" sz="2800" dirty="0"/>
              <a:t>Графическая оболочка </a:t>
            </a:r>
            <a:r>
              <a:rPr lang="en-US" sz="2800" dirty="0"/>
              <a:t>MATE</a:t>
            </a:r>
          </a:p>
          <a:p>
            <a:r>
              <a:rPr lang="ru-RU" sz="2800" dirty="0"/>
              <a:t>Классический интерфейс, низкое потребление ресурсов</a:t>
            </a:r>
          </a:p>
          <a:p>
            <a:r>
              <a:rPr lang="en-US" sz="2800" b="1" dirty="0"/>
              <a:t>Ubuntu Server 22.04:</a:t>
            </a:r>
            <a:endParaRPr lang="en-US" sz="2800" dirty="0"/>
          </a:p>
          <a:p>
            <a:r>
              <a:rPr lang="ru-RU" sz="2800" dirty="0"/>
              <a:t>Консольный интерфейс</a:t>
            </a:r>
          </a:p>
          <a:p>
            <a:r>
              <a:rPr lang="ru-RU" sz="2800" dirty="0"/>
              <a:t>Проблема с репозиторием решена переходом на </a:t>
            </a:r>
            <a:r>
              <a:rPr lang="en-US" sz="2800" dirty="0">
                <a:hlinkClick r:id="rId5"/>
              </a:rPr>
              <a:t>mirror.yandex.ru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F10494D9-C145-CBA9-9DC5-7EDF8D143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75335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1"/>
          <p:cNvSpPr/>
          <p:nvPr/>
        </p:nvSpPr>
        <p:spPr>
          <a:xfrm>
            <a:off x="7510462" y="1228963"/>
            <a:ext cx="6553200" cy="586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800" b="1" dirty="0"/>
              <a:t>Базовое ПО:</a:t>
            </a:r>
            <a:endParaRPr lang="ru-RU" sz="2800" dirty="0"/>
          </a:p>
          <a:p>
            <a:r>
              <a:rPr lang="ru-RU" sz="2800" dirty="0"/>
              <a:t>7-</a:t>
            </a:r>
            <a:r>
              <a:rPr lang="en-US" sz="2800" dirty="0"/>
              <a:t>Zip (</a:t>
            </a:r>
            <a:r>
              <a:rPr lang="ru-RU" sz="2800" dirty="0"/>
              <a:t>архиватор)</a:t>
            </a:r>
          </a:p>
          <a:p>
            <a:r>
              <a:rPr lang="en-US" sz="2800" dirty="0"/>
              <a:t>Google Chrome (</a:t>
            </a:r>
            <a:r>
              <a:rPr lang="ru-RU" sz="2800" dirty="0"/>
              <a:t>браузер)</a:t>
            </a:r>
          </a:p>
          <a:p>
            <a:r>
              <a:rPr lang="en-US" sz="2800" dirty="0"/>
              <a:t>LibreOffice (</a:t>
            </a:r>
            <a:r>
              <a:rPr lang="ru-RU" sz="2800" dirty="0"/>
              <a:t>офисный пакет)</a:t>
            </a:r>
          </a:p>
          <a:p>
            <a:r>
              <a:rPr lang="en-US" sz="2800" dirty="0"/>
              <a:t>Foxit Reader (PDF-</a:t>
            </a:r>
            <a:r>
              <a:rPr lang="ru-RU" sz="2800" dirty="0"/>
              <a:t>ридер)</a:t>
            </a:r>
          </a:p>
          <a:p>
            <a:r>
              <a:rPr lang="en-US" sz="2800" dirty="0"/>
              <a:t>Kaspersky Free (</a:t>
            </a:r>
            <a:r>
              <a:rPr lang="ru-RU" sz="2800" dirty="0"/>
              <a:t>антивирус)</a:t>
            </a:r>
          </a:p>
          <a:p>
            <a:r>
              <a:rPr lang="ru-RU" sz="2800" b="1" dirty="0"/>
              <a:t>Среды разработки:</a:t>
            </a:r>
            <a:endParaRPr lang="ru-RU" sz="2800" dirty="0"/>
          </a:p>
          <a:p>
            <a:r>
              <a:rPr lang="en-US" sz="2800" dirty="0"/>
              <a:t>Visual Studio Code</a:t>
            </a:r>
          </a:p>
          <a:p>
            <a:r>
              <a:rPr lang="en-US" sz="2800" dirty="0"/>
              <a:t>1</a:t>
            </a:r>
            <a:r>
              <a:rPr lang="ru-RU" sz="2800" dirty="0"/>
              <a:t>С:Предприятие 8 (комьюнити-лицензия)</a:t>
            </a:r>
          </a:p>
          <a:p>
            <a:r>
              <a:rPr lang="ru-RU" sz="2800" b="1" dirty="0"/>
              <a:t>Серверное ПО:</a:t>
            </a:r>
            <a:endParaRPr lang="ru-RU" sz="2800" dirty="0"/>
          </a:p>
          <a:p>
            <a:r>
              <a:rPr lang="en-US" sz="2800" dirty="0" err="1"/>
              <a:t>OpenMediaVault</a:t>
            </a:r>
            <a:r>
              <a:rPr lang="en-US" sz="2800" dirty="0"/>
              <a:t> 8.0.7 (</a:t>
            </a:r>
            <a:r>
              <a:rPr lang="ru-RU" sz="2800" dirty="0"/>
              <a:t>файловый сервер)</a:t>
            </a:r>
          </a:p>
          <a:p>
            <a:r>
              <a:rPr lang="en-US" sz="2800" dirty="0"/>
              <a:t>MongoDB 7.0 (</a:t>
            </a:r>
            <a:r>
              <a:rPr lang="ru-RU" sz="2800" dirty="0"/>
              <a:t>СУБД)</a:t>
            </a:r>
          </a:p>
          <a:p>
            <a:r>
              <a:rPr lang="en-US" sz="2800" dirty="0"/>
              <a:t>Docker Engine (</a:t>
            </a:r>
            <a:r>
              <a:rPr lang="ru-RU" sz="2800" dirty="0"/>
              <a:t>контейнеризация)</a:t>
            </a:r>
          </a:p>
          <a:p>
            <a:r>
              <a:rPr lang="en-US" sz="2800" dirty="0"/>
              <a:t>Open Server Panel (</a:t>
            </a:r>
            <a:r>
              <a:rPr lang="ru-RU" sz="2800" dirty="0"/>
              <a:t>веб-сервер)</a:t>
            </a:r>
          </a:p>
        </p:txBody>
      </p:sp>
      <p:sp useBgFill="1">
        <p:nvSpPr>
          <p:cNvPr id="8" name="Прямоугольник 7">
            <a:extLst>
              <a:ext uri="{FF2B5EF4-FFF2-40B4-BE49-F238E27FC236}">
                <a16:creationId xmlns:a16="http://schemas.microsoft.com/office/drawing/2014/main" id="{4FD8546F-8D7F-021E-D6ED-93BE68912C0A}"/>
              </a:ext>
            </a:extLst>
          </p:cNvPr>
          <p:cNvSpPr/>
          <p:nvPr/>
        </p:nvSpPr>
        <p:spPr>
          <a:xfrm>
            <a:off x="12739955" y="7700154"/>
            <a:ext cx="1797978" cy="4623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 0"/>
          <p:cNvSpPr/>
          <p:nvPr/>
        </p:nvSpPr>
        <p:spPr>
          <a:xfrm>
            <a:off x="4486275" y="413266"/>
            <a:ext cx="9820275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4000" b="1" dirty="0">
                <a:solidFill>
                  <a:srgbClr val="0070C0"/>
                </a:solidFill>
              </a:rPr>
              <a:t>Установленное программное обеспечение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04" y="259281"/>
            <a:ext cx="1115115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ru-RU" sz="4400" b="1" dirty="0">
                <a:solidFill>
                  <a:srgbClr val="0070C0"/>
                </a:solidFill>
              </a:rPr>
              <a:t>Доработка программного модуля</a:t>
            </a:r>
          </a:p>
        </p:txBody>
      </p:sp>
      <p:sp useBgFill="1"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96741A2-A4B7-F7A4-7FA1-37FB5D0C4DC7}"/>
              </a:ext>
            </a:extLst>
          </p:cNvPr>
          <p:cNvSpPr/>
          <p:nvPr/>
        </p:nvSpPr>
        <p:spPr>
          <a:xfrm>
            <a:off x="12739955" y="7700154"/>
            <a:ext cx="1797978" cy="4623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CF0C98-B1FF-0F9F-EF39-D5F1CFFC8658}"/>
              </a:ext>
            </a:extLst>
          </p:cNvPr>
          <p:cNvSpPr txBox="1"/>
          <p:nvPr/>
        </p:nvSpPr>
        <p:spPr>
          <a:xfrm>
            <a:off x="295435" y="1122662"/>
            <a:ext cx="872527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Реализованный функционал:</a:t>
            </a:r>
            <a:endParaRPr lang="ru-RU" sz="3200" dirty="0"/>
          </a:p>
          <a:p>
            <a:r>
              <a:rPr lang="ru-RU" sz="3200" dirty="0"/>
              <a:t>CRUD-операции (</a:t>
            </a:r>
            <a:r>
              <a:rPr lang="ru-RU" sz="3200" dirty="0" err="1"/>
              <a:t>Create</a:t>
            </a:r>
            <a:r>
              <a:rPr lang="ru-RU" sz="3200" dirty="0"/>
              <a:t>, </a:t>
            </a:r>
            <a:r>
              <a:rPr lang="ru-RU" sz="3200" dirty="0" err="1"/>
              <a:t>Read</a:t>
            </a:r>
            <a:r>
              <a:rPr lang="ru-RU" sz="3200" dirty="0"/>
              <a:t>, Update, </a:t>
            </a:r>
            <a:r>
              <a:rPr lang="ru-RU" sz="3200" dirty="0" err="1"/>
              <a:t>Delete</a:t>
            </a:r>
            <a:r>
              <a:rPr lang="ru-RU" sz="3200" dirty="0"/>
              <a:t>) для работы с партнёрами</a:t>
            </a:r>
          </a:p>
          <a:p>
            <a:r>
              <a:rPr lang="ru-RU" sz="3200" dirty="0"/>
              <a:t>Вывод списка историй покупок конкретного партнёра</a:t>
            </a:r>
          </a:p>
          <a:p>
            <a:r>
              <a:rPr lang="ru-RU" sz="3200" dirty="0"/>
              <a:t>Исправление логической ошибки в алгоритме расчёта скидки</a:t>
            </a:r>
          </a:p>
          <a:p>
            <a:r>
              <a:rPr lang="en-US" sz="3200" b="1" dirty="0"/>
              <a:t>Unit-</a:t>
            </a:r>
            <a:r>
              <a:rPr lang="ru-RU" sz="3200" b="1" dirty="0"/>
              <a:t>тестирование (5 тестов):</a:t>
            </a:r>
            <a:endParaRPr lang="ru-RU" sz="32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C8FDE79-FC80-25E9-74DB-9F531800D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136" y="5160444"/>
            <a:ext cx="6885940" cy="280987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0E216FF-0B87-B991-23F7-348B9A9693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8295" y="1122662"/>
            <a:ext cx="5106670" cy="4838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39BBA-F240-E718-F6DE-03EE54D42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566BC85-7447-FF9D-F646-339A6B8FF1A5}"/>
              </a:ext>
            </a:extLst>
          </p:cNvPr>
          <p:cNvSpPr/>
          <p:nvPr/>
        </p:nvSpPr>
        <p:spPr>
          <a:xfrm>
            <a:off x="903704" y="259281"/>
            <a:ext cx="1115115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ru-RU" sz="4000" b="1" dirty="0">
                <a:solidFill>
                  <a:srgbClr val="0070C0"/>
                </a:solidFill>
              </a:rPr>
              <a:t>Развёртывание готовых решений</a:t>
            </a:r>
          </a:p>
        </p:txBody>
      </p:sp>
      <p:sp useBgFill="1"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FDAD2CE-1E31-FF7A-6EEF-44FA20C022D7}"/>
              </a:ext>
            </a:extLst>
          </p:cNvPr>
          <p:cNvSpPr/>
          <p:nvPr/>
        </p:nvSpPr>
        <p:spPr>
          <a:xfrm>
            <a:off x="12739955" y="7700154"/>
            <a:ext cx="1797978" cy="4623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17B3B2-5370-8DB4-56B0-FE4C88C2F3FD}"/>
              </a:ext>
            </a:extLst>
          </p:cNvPr>
          <p:cNvSpPr txBox="1"/>
          <p:nvPr/>
        </p:nvSpPr>
        <p:spPr>
          <a:xfrm>
            <a:off x="295435" y="1122662"/>
            <a:ext cx="829611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MongoDB:</a:t>
            </a:r>
            <a:endParaRPr lang="en-US" sz="2800" dirty="0"/>
          </a:p>
          <a:p>
            <a:r>
              <a:rPr lang="ru-RU" sz="2800" dirty="0"/>
              <a:t>Установка на </a:t>
            </a:r>
            <a:r>
              <a:rPr lang="en-US" sz="2800" dirty="0"/>
              <a:t>Ubuntu Server (</a:t>
            </a:r>
            <a:r>
              <a:rPr lang="ru-RU" sz="2800" dirty="0"/>
              <a:t>ручная, из архива)</a:t>
            </a:r>
          </a:p>
          <a:p>
            <a:r>
              <a:rPr lang="ru-RU" sz="2800" dirty="0"/>
              <a:t>Импорт тестовых данных (</a:t>
            </a:r>
            <a:r>
              <a:rPr lang="en-US" sz="2800" dirty="0" err="1"/>
              <a:t>tp.json</a:t>
            </a:r>
            <a:r>
              <a:rPr lang="en-US" sz="2800" dirty="0"/>
              <a:t>, </a:t>
            </a:r>
            <a:r>
              <a:rPr lang="en-US" sz="2800" dirty="0" err="1"/>
              <a:t>pr.json</a:t>
            </a:r>
            <a:r>
              <a:rPr lang="en-US" sz="2800" dirty="0"/>
              <a:t>)</a:t>
            </a:r>
          </a:p>
          <a:p>
            <a:r>
              <a:rPr lang="ru-RU" sz="2800" dirty="0"/>
              <a:t>Подключение через </a:t>
            </a:r>
            <a:r>
              <a:rPr lang="en-US" sz="2800" dirty="0" err="1"/>
              <a:t>mongosh</a:t>
            </a:r>
            <a:endParaRPr lang="en-US" sz="2800" dirty="0"/>
          </a:p>
          <a:p>
            <a:r>
              <a:rPr lang="en-US" sz="2800" b="1" dirty="0"/>
              <a:t>Docker + API-</a:t>
            </a:r>
            <a:r>
              <a:rPr lang="ru-RU" sz="2800" b="1" dirty="0"/>
              <a:t>сервис:</a:t>
            </a:r>
            <a:endParaRPr lang="ru-RU" sz="2800" dirty="0"/>
          </a:p>
          <a:p>
            <a:r>
              <a:rPr lang="ru-RU" sz="2800" dirty="0"/>
              <a:t>Установлен </a:t>
            </a:r>
            <a:r>
              <a:rPr lang="en-US" sz="2800" dirty="0"/>
              <a:t>Docker </a:t>
            </a:r>
            <a:r>
              <a:rPr lang="ru-RU" sz="2800" dirty="0"/>
              <a:t>и </a:t>
            </a:r>
            <a:r>
              <a:rPr lang="en-US" sz="2800" dirty="0"/>
              <a:t>Docker Compose</a:t>
            </a:r>
          </a:p>
          <a:p>
            <a:r>
              <a:rPr lang="ru-RU" sz="2800" dirty="0"/>
              <a:t>Развёрнут сервис </a:t>
            </a:r>
            <a:r>
              <a:rPr lang="en-US" sz="2800" dirty="0"/>
              <a:t>Piper TTS</a:t>
            </a:r>
          </a:p>
          <a:p>
            <a:r>
              <a:rPr lang="en-US" sz="2800" b="1" dirty="0"/>
              <a:t>Piper TTS + API:</a:t>
            </a:r>
            <a:endParaRPr lang="en-US" sz="2800" dirty="0"/>
          </a:p>
          <a:p>
            <a:r>
              <a:rPr lang="ru-RU" sz="2800" dirty="0"/>
              <a:t>Загружена голосовая модель (</a:t>
            </a:r>
            <a:r>
              <a:rPr lang="en-US" sz="2800" dirty="0" err="1"/>
              <a:t>en_US</a:t>
            </a:r>
            <a:r>
              <a:rPr lang="en-US" sz="2800" dirty="0"/>
              <a:t>-</a:t>
            </a:r>
            <a:r>
              <a:rPr lang="en-US" sz="2800" dirty="0" err="1"/>
              <a:t>lessac</a:t>
            </a:r>
            <a:r>
              <a:rPr lang="en-US" sz="2800" dirty="0"/>
              <a:t>-medium)</a:t>
            </a:r>
          </a:p>
          <a:p>
            <a:r>
              <a:rPr lang="ru-RU" sz="2800" dirty="0"/>
              <a:t>Два контейнера: </a:t>
            </a:r>
            <a:r>
              <a:rPr lang="en-US" sz="2800" dirty="0"/>
              <a:t>piper + piper-http</a:t>
            </a:r>
          </a:p>
          <a:p>
            <a:r>
              <a:rPr lang="en-US" sz="2800" dirty="0"/>
              <a:t>API-</a:t>
            </a:r>
            <a:r>
              <a:rPr lang="ru-RU" sz="2800" dirty="0"/>
              <a:t>сервер принимает текст → синтезирует речь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1E336F5-CBBE-364B-9A5E-208F6B213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280" y="4779187"/>
            <a:ext cx="4130675" cy="325310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2191C21-6EF3-958D-8956-6D1E6C246F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540" y="679310"/>
            <a:ext cx="5940425" cy="3817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126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4E1F1-4472-817C-024C-5D7C13001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6FD3650-11BA-1E5B-C5C3-8274E242B33C}"/>
              </a:ext>
            </a:extLst>
          </p:cNvPr>
          <p:cNvSpPr/>
          <p:nvPr/>
        </p:nvSpPr>
        <p:spPr>
          <a:xfrm>
            <a:off x="903704" y="259281"/>
            <a:ext cx="1115115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ru-RU" sz="4000" b="1" dirty="0">
                <a:solidFill>
                  <a:srgbClr val="0070C0"/>
                </a:solidFill>
              </a:rPr>
              <a:t>Файловый сервер </a:t>
            </a:r>
            <a:r>
              <a:rPr lang="en-US" sz="4000" b="1" dirty="0" err="1">
                <a:solidFill>
                  <a:srgbClr val="0070C0"/>
                </a:solidFill>
              </a:rPr>
              <a:t>OpenMediaVault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 useBgFill="1"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E170D6A-2997-DFB0-6D10-100F9361C490}"/>
              </a:ext>
            </a:extLst>
          </p:cNvPr>
          <p:cNvSpPr/>
          <p:nvPr/>
        </p:nvSpPr>
        <p:spPr>
          <a:xfrm>
            <a:off x="12739955" y="7700154"/>
            <a:ext cx="1797978" cy="4623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8AF47A-1476-6F5E-B91F-EA7FAA92B8BC}"/>
              </a:ext>
            </a:extLst>
          </p:cNvPr>
          <p:cNvSpPr txBox="1"/>
          <p:nvPr/>
        </p:nvSpPr>
        <p:spPr>
          <a:xfrm>
            <a:off x="295435" y="981751"/>
            <a:ext cx="829611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Установка и настройка:</a:t>
            </a:r>
            <a:endParaRPr lang="ru-RU" sz="2800" dirty="0"/>
          </a:p>
          <a:p>
            <a:r>
              <a:rPr lang="ru-RU" sz="2800" dirty="0"/>
              <a:t>Установка на отдельную ВМ (2 ГБ ОЗУ, 16 ГБ диск, Сетевой мост)</a:t>
            </a:r>
          </a:p>
          <a:p>
            <a:r>
              <a:rPr lang="ru-RU" sz="2800" dirty="0"/>
              <a:t>Настройка сетевых интерфейсов (DHCP)</a:t>
            </a:r>
          </a:p>
          <a:p>
            <a:r>
              <a:rPr lang="ru-RU" sz="2800" dirty="0"/>
              <a:t>Создание пользователей и групп (</a:t>
            </a:r>
            <a:r>
              <a:rPr lang="ru-RU" sz="2800" dirty="0" err="1"/>
              <a:t>users_grp</a:t>
            </a:r>
            <a:r>
              <a:rPr lang="ru-RU" sz="2800" dirty="0"/>
              <a:t>)</a:t>
            </a:r>
          </a:p>
          <a:p>
            <a:r>
              <a:rPr lang="ru-RU" sz="2800" dirty="0"/>
              <a:t>Создание общей папки Exchange</a:t>
            </a:r>
          </a:p>
          <a:p>
            <a:r>
              <a:rPr lang="ru-RU" sz="2800" dirty="0"/>
              <a:t>Настройка SMB/CIFS-ресурсов</a:t>
            </a:r>
          </a:p>
          <a:p>
            <a:r>
              <a:rPr lang="ru-RU" sz="2800" b="1" dirty="0"/>
              <a:t>Безопасность:</a:t>
            </a:r>
            <a:endParaRPr lang="ru-RU" sz="2800" dirty="0"/>
          </a:p>
          <a:p>
            <a:r>
              <a:rPr lang="ru-RU" sz="2800" dirty="0"/>
              <a:t>Настроен брандмауэр (порты 445, 21, 22)</a:t>
            </a:r>
          </a:p>
          <a:p>
            <a:r>
              <a:rPr lang="ru-RU" sz="2800" dirty="0"/>
              <a:t>Сгенерированы SSL и SSH сертификаты</a:t>
            </a:r>
          </a:p>
          <a:p>
            <a:r>
              <a:rPr lang="ru-RU" sz="2800" b="1" dirty="0"/>
              <a:t>Результат:</a:t>
            </a:r>
            <a:endParaRPr lang="ru-RU" sz="2800" dirty="0"/>
          </a:p>
          <a:p>
            <a:r>
              <a:rPr lang="ru-RU" sz="2800" dirty="0"/>
              <a:t>Загружены файлы разных форматов</a:t>
            </a:r>
          </a:p>
          <a:p>
            <a:r>
              <a:rPr lang="ru-RU" sz="2800" dirty="0"/>
              <a:t>Доступ к общей папке по сети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C7F5935-F7C4-A515-5B24-6A76B1BC3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0015" y="126859"/>
            <a:ext cx="4044950" cy="351091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115186B-99AD-70C2-792A-2997D8525C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9425" y="3297461"/>
            <a:ext cx="4044950" cy="493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394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7B509-D790-35C1-5483-1228D4479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F60BB25-0739-1452-83F6-148E0FC5FAE2}"/>
              </a:ext>
            </a:extLst>
          </p:cNvPr>
          <p:cNvSpPr/>
          <p:nvPr/>
        </p:nvSpPr>
        <p:spPr>
          <a:xfrm>
            <a:off x="903704" y="259281"/>
            <a:ext cx="1115115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ru-RU" sz="4400" b="1" dirty="0">
                <a:solidFill>
                  <a:srgbClr val="0070C0"/>
                </a:solidFill>
              </a:rPr>
              <a:t>Блок-схема программного модуля</a:t>
            </a:r>
          </a:p>
        </p:txBody>
      </p:sp>
      <p:sp useBgFill="1"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14248E8-3D1B-F921-1492-5E6953E09B31}"/>
              </a:ext>
            </a:extLst>
          </p:cNvPr>
          <p:cNvSpPr/>
          <p:nvPr/>
        </p:nvSpPr>
        <p:spPr>
          <a:xfrm>
            <a:off x="12739955" y="7700154"/>
            <a:ext cx="1797978" cy="4623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B79DB6-07B2-381C-7D03-5FEB632071E8}"/>
              </a:ext>
            </a:extLst>
          </p:cNvPr>
          <p:cNvSpPr txBox="1"/>
          <p:nvPr/>
        </p:nvSpPr>
        <p:spPr>
          <a:xfrm>
            <a:off x="295435" y="1075713"/>
            <a:ext cx="801036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Описание алгоритма:</a:t>
            </a:r>
            <a:endParaRPr lang="ru-RU" sz="3200" dirty="0"/>
          </a:p>
          <a:p>
            <a:r>
              <a:rPr lang="ru-RU" sz="3200" dirty="0"/>
              <a:t>Загрузка списка партнёров из БД</a:t>
            </a:r>
          </a:p>
          <a:p>
            <a:r>
              <a:rPr lang="ru-RU" sz="3200" dirty="0"/>
              <a:t>Цикл по каждому партнёру</a:t>
            </a:r>
          </a:p>
          <a:p>
            <a:r>
              <a:rPr lang="ru-RU" sz="3200" dirty="0"/>
              <a:t>Расчёт суммы продаж через </a:t>
            </a:r>
            <a:r>
              <a:rPr lang="ru-RU" sz="3200" dirty="0" err="1"/>
              <a:t>Partners_product</a:t>
            </a:r>
            <a:endParaRPr lang="ru-RU" sz="3200" dirty="0"/>
          </a:p>
          <a:p>
            <a:r>
              <a:rPr lang="ru-RU" sz="3200" dirty="0"/>
              <a:t>Определение скидки по диапазонам:</a:t>
            </a:r>
          </a:p>
          <a:p>
            <a:pPr lvl="1"/>
            <a:r>
              <a:rPr lang="ru-RU" sz="3200" dirty="0"/>
              <a:t>&lt; 10 000 → 0%</a:t>
            </a:r>
          </a:p>
          <a:p>
            <a:pPr lvl="1"/>
            <a:r>
              <a:rPr lang="ru-RU" sz="3200" dirty="0"/>
              <a:t>10 000 – 49 999 → 5%</a:t>
            </a:r>
          </a:p>
          <a:p>
            <a:pPr lvl="1"/>
            <a:r>
              <a:rPr lang="ru-RU" sz="3200" dirty="0"/>
              <a:t>50 000 – 299 999 → 10%</a:t>
            </a:r>
          </a:p>
          <a:p>
            <a:pPr lvl="1"/>
            <a:r>
              <a:rPr lang="ru-RU" sz="3200" dirty="0"/>
              <a:t>≥ 300 000 → 15%</a:t>
            </a:r>
          </a:p>
          <a:p>
            <a:r>
              <a:rPr lang="ru-RU" sz="3200" dirty="0"/>
              <a:t>Формирование объекта Partner</a:t>
            </a:r>
          </a:p>
          <a:p>
            <a:r>
              <a:rPr lang="ru-RU" sz="3200" dirty="0"/>
              <a:t>Отображение в </a:t>
            </a:r>
            <a:r>
              <a:rPr lang="ru-RU" sz="3200" dirty="0" err="1"/>
              <a:t>ListView</a:t>
            </a:r>
            <a:endParaRPr lang="ru-RU" sz="32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46A0964-1AD0-6EAD-C6D7-EE347D9CD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599" y="4068684"/>
            <a:ext cx="8010366" cy="40938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59266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854773" y="913854"/>
            <a:ext cx="8339257" cy="1082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3600" b="1" dirty="0">
                <a:solidFill>
                  <a:srgbClr val="0070C0"/>
                </a:solidFill>
              </a:rPr>
              <a:t>Веб-сайт на локальном сервере</a:t>
            </a:r>
          </a:p>
        </p:txBody>
      </p:sp>
      <p:sp>
        <p:nvSpPr>
          <p:cNvPr id="4" name="Text 1"/>
          <p:cNvSpPr/>
          <p:nvPr/>
        </p:nvSpPr>
        <p:spPr>
          <a:xfrm>
            <a:off x="6076592" y="1741408"/>
            <a:ext cx="8339257" cy="677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rgbClr val="002060"/>
                </a:solidFill>
              </a:rPr>
              <a:t>Open Server Panel:</a:t>
            </a:r>
            <a:endParaRPr lang="en-US" sz="2800" dirty="0">
              <a:solidFill>
                <a:srgbClr val="002060"/>
              </a:solidFill>
            </a:endParaRPr>
          </a:p>
          <a:p>
            <a:r>
              <a:rPr lang="en-US" sz="2800" dirty="0" err="1"/>
              <a:t>Установлены</a:t>
            </a:r>
            <a:r>
              <a:rPr lang="en-US" sz="2800" dirty="0"/>
              <a:t> </a:t>
            </a:r>
            <a:r>
              <a:rPr lang="en-US" sz="2800" dirty="0" err="1"/>
              <a:t>модули</a:t>
            </a:r>
            <a:r>
              <a:rPr lang="en-US" sz="2800" dirty="0"/>
              <a:t>: Apache 2.4, MySQL 8.0, PHP 8.2</a:t>
            </a:r>
          </a:p>
        </p:txBody>
      </p:sp>
      <p:sp useBgFill="1">
        <p:nvSpPr>
          <p:cNvPr id="10" name="Прямоугольник 9">
            <a:extLst>
              <a:ext uri="{FF2B5EF4-FFF2-40B4-BE49-F238E27FC236}">
                <a16:creationId xmlns:a16="http://schemas.microsoft.com/office/drawing/2014/main" id="{76B4620D-347E-FE70-6E11-2C0F2000728C}"/>
              </a:ext>
            </a:extLst>
          </p:cNvPr>
          <p:cNvSpPr/>
          <p:nvPr/>
        </p:nvSpPr>
        <p:spPr>
          <a:xfrm>
            <a:off x="12739955" y="7700154"/>
            <a:ext cx="1797978" cy="4623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52D5BE-7BCF-88FC-0C1F-BF5A22639AD8}"/>
              </a:ext>
            </a:extLst>
          </p:cNvPr>
          <p:cNvSpPr txBox="1"/>
          <p:nvPr/>
        </p:nvSpPr>
        <p:spPr>
          <a:xfrm>
            <a:off x="6076592" y="2778129"/>
            <a:ext cx="811297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</a:rPr>
              <a:t>Разработан сайт колледжа:</a:t>
            </a:r>
            <a:endParaRPr lang="ru-RU" sz="2800" dirty="0">
              <a:solidFill>
                <a:srgbClr val="002060"/>
              </a:solidFill>
            </a:endParaRPr>
          </a:p>
          <a:p>
            <a:r>
              <a:rPr lang="ru-RU" sz="2800" dirty="0"/>
              <a:t>Главное меню (Сведения об ОО, Абитуриенту, Студентам, Новости)</a:t>
            </a:r>
          </a:p>
          <a:p>
            <a:r>
              <a:rPr lang="ru-RU" sz="2800" dirty="0"/>
              <a:t>Новостная лента (последние новости на главной)</a:t>
            </a:r>
          </a:p>
          <a:p>
            <a:r>
              <a:rPr lang="ru-RU" sz="2800" dirty="0"/>
              <a:t>Страницы с контентом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EC17065-CE60-B598-81D1-8D26FCFA3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719" y="5711468"/>
            <a:ext cx="4258269" cy="207674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C318987-7492-EFA2-AD31-C2F47EE9FC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551" y="2141801"/>
            <a:ext cx="5783202" cy="55583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04EBD-0EFC-7ECB-B383-15CC8C400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CDF08EB4-B3DB-5100-553A-A11F7888E174}"/>
              </a:ext>
            </a:extLst>
          </p:cNvPr>
          <p:cNvSpPr/>
          <p:nvPr/>
        </p:nvSpPr>
        <p:spPr>
          <a:xfrm>
            <a:off x="4854773" y="579615"/>
            <a:ext cx="8339257" cy="1082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4400" b="1" dirty="0">
                <a:solidFill>
                  <a:srgbClr val="0070C0"/>
                </a:solidFill>
              </a:rPr>
              <a:t>Заключение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08FE0F9-A2C7-894F-8DD3-DEB01376866A}"/>
              </a:ext>
            </a:extLst>
          </p:cNvPr>
          <p:cNvSpPr/>
          <p:nvPr/>
        </p:nvSpPr>
        <p:spPr>
          <a:xfrm>
            <a:off x="7315200" y="1956298"/>
            <a:ext cx="7100649" cy="462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3600" b="1" dirty="0"/>
              <a:t>Ссылка на </a:t>
            </a:r>
            <a:r>
              <a:rPr lang="ru-RU" sz="3600" b="1" dirty="0" err="1"/>
              <a:t>Git</a:t>
            </a:r>
            <a:r>
              <a:rPr lang="ru-RU" sz="3600" b="1" dirty="0"/>
              <a:t>-репозиторий:</a:t>
            </a:r>
            <a:br>
              <a:rPr lang="ru-RU" sz="3600" dirty="0"/>
            </a:br>
            <a:r>
              <a:rPr lang="ru-RU" sz="3600" dirty="0">
                <a:hlinkClick r:id="rId3"/>
              </a:rPr>
              <a:t>https://github.com/qwinge1/Praktika2</a:t>
            </a:r>
            <a:endParaRPr lang="en-US" sz="3600" dirty="0"/>
          </a:p>
        </p:txBody>
      </p:sp>
      <p:sp useBgFill="1">
        <p:nvSpPr>
          <p:cNvPr id="10" name="Прямоугольник 9">
            <a:extLst>
              <a:ext uri="{FF2B5EF4-FFF2-40B4-BE49-F238E27FC236}">
                <a16:creationId xmlns:a16="http://schemas.microsoft.com/office/drawing/2014/main" id="{95A80244-091E-7C91-8B65-7CB29ABF01AE}"/>
              </a:ext>
            </a:extLst>
          </p:cNvPr>
          <p:cNvSpPr/>
          <p:nvPr/>
        </p:nvSpPr>
        <p:spPr>
          <a:xfrm>
            <a:off x="12739955" y="7700154"/>
            <a:ext cx="1797978" cy="4623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A1E4F51-3450-1596-9164-93DC32533A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551" y="1333066"/>
            <a:ext cx="6829425" cy="68294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83400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659</Words>
  <Application>Microsoft Office PowerPoint</Application>
  <PresentationFormat>Произвольный</PresentationFormat>
  <Paragraphs>114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Noto Sans SC</vt:lpstr>
      <vt:lpstr>Inter</vt:lpstr>
      <vt:lpstr>Roboto</vt:lpstr>
      <vt:lpstr>Roboto Slab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Дима</dc:creator>
  <cp:lastModifiedBy>Дима Исупов</cp:lastModifiedBy>
  <cp:revision>9</cp:revision>
  <dcterms:created xsi:type="dcterms:W3CDTF">2026-04-07T14:55:54Z</dcterms:created>
  <dcterms:modified xsi:type="dcterms:W3CDTF">2026-05-05T06:22:01Z</dcterms:modified>
</cp:coreProperties>
</file>